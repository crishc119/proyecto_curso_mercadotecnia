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5" r:id="rId8"/>
    <p:sldId id="266" r:id="rId9"/>
    <p:sldId id="261" r:id="rId10"/>
    <p:sldId id="262" r:id="rId11"/>
    <p:sldId id="263" r:id="rId12"/>
    <p:sldId id="264" r:id="rId13"/>
  </p:sldIdLst>
  <p:sldSz cx="18288000" cy="10287000"/>
  <p:notesSz cx="6858000" cy="9144000"/>
  <p:embeddedFontLst>
    <p:embeddedFont>
      <p:font typeface="League Spartan" panose="020B0604020202020204" charset="0"/>
      <p:regular r:id="rId14"/>
    </p:embeddedFont>
    <p:embeddedFont>
      <p:font typeface="Open Sans" panose="020B0606030504020204" pitchFamily="34" charset="0"/>
      <p:regular r:id="rId15"/>
      <p:bold r:id="rId16"/>
    </p:embeddedFont>
    <p:embeddedFont>
      <p:font typeface="Open Sans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9" y="7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1028700" y="952267"/>
            <a:ext cx="16230600" cy="8382465"/>
            <a:chOff x="0" y="0"/>
            <a:chExt cx="6045684" cy="31223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45684" cy="3122357"/>
            </a:xfrm>
            <a:custGeom>
              <a:avLst/>
              <a:gdLst/>
              <a:ahLst/>
              <a:cxnLst/>
              <a:rect l="l" t="t" r="r" b="b"/>
              <a:pathLst>
                <a:path w="6045684" h="3122357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74539" y="8993151"/>
            <a:ext cx="4284389" cy="1567256"/>
            <a:chOff x="0" y="0"/>
            <a:chExt cx="1128399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8399" cy="412775"/>
            </a:xfrm>
            <a:custGeom>
              <a:avLst/>
              <a:gdLst/>
              <a:ahLst/>
              <a:cxnLst/>
              <a:rect l="l" t="t" r="r" b="b"/>
              <a:pathLst>
                <a:path w="1128399" h="412775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9254" cy="412775"/>
            </a:xfrm>
            <a:custGeom>
              <a:avLst/>
              <a:gdLst/>
              <a:ahLst/>
              <a:cxnLst/>
              <a:rect l="l" t="t" r="r" b="b"/>
              <a:pathLst>
                <a:path w="1839254" h="412775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 flipH="1" flipV="1">
            <a:off x="10540746" y="-52264"/>
            <a:ext cx="11547949" cy="9406329"/>
          </a:xfrm>
          <a:custGeom>
            <a:avLst/>
            <a:gdLst/>
            <a:ahLst/>
            <a:cxnLst/>
            <a:rect l="l" t="t" r="r" b="b"/>
            <a:pathLst>
              <a:path w="11547949" h="940632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AutoShape 13"/>
          <p:cNvSpPr/>
          <p:nvPr/>
        </p:nvSpPr>
        <p:spPr>
          <a:xfrm flipV="1">
            <a:off x="13553005" y="935761"/>
            <a:ext cx="5036482" cy="5036482"/>
          </a:xfrm>
          <a:prstGeom prst="line">
            <a:avLst/>
          </a:prstGeom>
          <a:ln w="114300" cap="flat">
            <a:solidFill>
              <a:srgbClr val="FF99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4" name="AutoShape 14"/>
          <p:cNvSpPr/>
          <p:nvPr/>
        </p:nvSpPr>
        <p:spPr>
          <a:xfrm flipV="1">
            <a:off x="14602740" y="4540846"/>
            <a:ext cx="1216428" cy="1216428"/>
          </a:xfrm>
          <a:prstGeom prst="line">
            <a:avLst/>
          </a:prstGeom>
          <a:ln w="114300" cap="flat">
            <a:solidFill>
              <a:srgbClr val="FF99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5" name="AutoShape 15"/>
          <p:cNvSpPr/>
          <p:nvPr/>
        </p:nvSpPr>
        <p:spPr>
          <a:xfrm flipV="1">
            <a:off x="12944791" y="7512571"/>
            <a:ext cx="2942644" cy="2942644"/>
          </a:xfrm>
          <a:prstGeom prst="line">
            <a:avLst/>
          </a:prstGeom>
          <a:ln w="114300" cap="flat">
            <a:solidFill>
              <a:srgbClr val="782A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6" name="AutoShape 16"/>
          <p:cNvSpPr/>
          <p:nvPr/>
        </p:nvSpPr>
        <p:spPr>
          <a:xfrm flipV="1">
            <a:off x="11473469" y="9776779"/>
            <a:ext cx="2942644" cy="2942644"/>
          </a:xfrm>
          <a:prstGeom prst="line">
            <a:avLst/>
          </a:prstGeom>
          <a:ln w="114300" cap="flat">
            <a:solidFill>
              <a:srgbClr val="782A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7" name="Freeform 17"/>
          <p:cNvSpPr/>
          <p:nvPr/>
        </p:nvSpPr>
        <p:spPr>
          <a:xfrm>
            <a:off x="2184676" y="1303881"/>
            <a:ext cx="1348090" cy="1527423"/>
          </a:xfrm>
          <a:custGeom>
            <a:avLst/>
            <a:gdLst/>
            <a:ahLst/>
            <a:cxnLst/>
            <a:rect l="l" t="t" r="r" b="b"/>
            <a:pathLst>
              <a:path w="1348090" h="1527423">
                <a:moveTo>
                  <a:pt x="0" y="0"/>
                </a:moveTo>
                <a:lnTo>
                  <a:pt x="1348090" y="0"/>
                </a:lnTo>
                <a:lnTo>
                  <a:pt x="1348090" y="1527423"/>
                </a:lnTo>
                <a:lnTo>
                  <a:pt x="0" y="1527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TextBox 18"/>
          <p:cNvSpPr txBox="1"/>
          <p:nvPr/>
        </p:nvSpPr>
        <p:spPr>
          <a:xfrm>
            <a:off x="2146576" y="6000710"/>
            <a:ext cx="9224082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Graficación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18001" y="4455375"/>
            <a:ext cx="11119114" cy="182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8"/>
              </a:lnSpc>
            </a:pPr>
            <a:r>
              <a:rPr lang="en-US" sz="1209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ROTACIÓN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4676" y="3226149"/>
            <a:ext cx="11052439" cy="116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63"/>
              </a:lnSpc>
            </a:pPr>
            <a:r>
              <a:rPr lang="en-US" sz="77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3.3.3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89839" y="1745329"/>
            <a:ext cx="9871536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Tecnologíco Nacional de Ciudad Victoria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18001" y="7677746"/>
            <a:ext cx="9224082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Equipo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1477486" y="1693018"/>
            <a:ext cx="15333028" cy="129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¿QUÉ ES LA ROTACIÓN?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77486" y="3286926"/>
            <a:ext cx="15333028" cy="597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4"/>
              </a:lnSpc>
            </a:pPr>
            <a:r>
              <a:rPr lang="en-US" sz="37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rotación es una transformación geométrica que consiste en girar un objeto o figura alrededor de un punto fijo llamado centro de rotación.</a:t>
            </a:r>
          </a:p>
          <a:p>
            <a:pPr algn="ctr">
              <a:lnSpc>
                <a:spcPts val="5294"/>
              </a:lnSpc>
            </a:pPr>
            <a:endParaRPr lang="en-US" sz="378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294"/>
              </a:lnSpc>
            </a:pPr>
            <a:r>
              <a:rPr lang="en-US" sz="37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Durante este proceso, el tamaño y la forma del objeto no cambian, solo su orientación en el plano o en el espacio.</a:t>
            </a:r>
          </a:p>
          <a:p>
            <a:pPr algn="ctr">
              <a:lnSpc>
                <a:spcPts val="5294"/>
              </a:lnSpc>
            </a:pPr>
            <a:endParaRPr lang="en-US" sz="378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294"/>
              </a:lnSpc>
            </a:pPr>
            <a:r>
              <a:rPr lang="en-US" sz="37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rotación se utiliza para modificar la posición angular de imágenes, figuras o modelos 3D, conservando su estructura.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C47D-8112-5620-0199-B379B5ED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F09A97-9FC3-AB0A-D613-1FD430C1B2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419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F067464-7023-D9C8-42B1-30B89378F57D}"/>
              </a:ext>
            </a:extLst>
          </p:cNvPr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F7F190-85BC-B67B-517A-9C756D39F2ED}"/>
                </a:ext>
              </a:extLst>
            </p:cNvPr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07B4142-CC66-C918-0C6B-CCB9AB4608BB}"/>
                </a:ext>
              </a:extLst>
            </p:cNvPr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89C5DE5-D6DD-594D-22BC-F4A5CD51133F}"/>
              </a:ext>
            </a:extLst>
          </p:cNvPr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A8DBAE5-D145-69EC-59DB-BEA82256B711}"/>
                </a:ext>
              </a:extLst>
            </p:cNvPr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39F83AB-DA51-63D3-4D81-8A80E756E700}"/>
                </a:ext>
              </a:extLst>
            </p:cNvPr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3F27D85-A920-635C-BF0C-A2CC4854D6E4}"/>
              </a:ext>
            </a:extLst>
          </p:cNvPr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B9F2166-D145-E8A2-B187-4C0967064F37}"/>
                </a:ext>
              </a:extLst>
            </p:cNvPr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4A5E119-A7EC-C1C7-ACE4-D860490291F7}"/>
                </a:ext>
              </a:extLst>
            </p:cNvPr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2812169-BC6D-92CD-D3BA-3E4213589937}"/>
              </a:ext>
            </a:extLst>
          </p:cNvPr>
          <p:cNvSpPr/>
          <p:nvPr/>
        </p:nvSpPr>
        <p:spPr>
          <a:xfrm>
            <a:off x="-794973" y="5188925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B453D4B-CA61-52F4-6767-E5E785645470}"/>
              </a:ext>
            </a:extLst>
          </p:cNvPr>
          <p:cNvSpPr txBox="1"/>
          <p:nvPr/>
        </p:nvSpPr>
        <p:spPr>
          <a:xfrm>
            <a:off x="1592396" y="2011911"/>
            <a:ext cx="15103207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Origen de la </a:t>
            </a:r>
            <a:r>
              <a:rPr lang="en-US" sz="5400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Rotacion</a:t>
            </a:r>
            <a:endParaRPr lang="en-US" sz="54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FB44F27-4A31-E659-01B4-0DD246820193}"/>
              </a:ext>
            </a:extLst>
          </p:cNvPr>
          <p:cNvSpPr/>
          <p:nvPr/>
        </p:nvSpPr>
        <p:spPr>
          <a:xfrm rot="-10800000">
            <a:off x="13871465" y="-189523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1654C75-549C-D4E9-2207-3BD48C74625D}"/>
              </a:ext>
            </a:extLst>
          </p:cNvPr>
          <p:cNvSpPr txBox="1"/>
          <p:nvPr/>
        </p:nvSpPr>
        <p:spPr>
          <a:xfrm>
            <a:off x="2650568" y="3423268"/>
            <a:ext cx="12986860" cy="40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573" lvl="1">
              <a:lnSpc>
                <a:spcPts val="4520"/>
              </a:lnSpc>
            </a:pPr>
            <a:r>
              <a:rPr lang="es-ES" sz="3600" dirty="0"/>
              <a:t>El concepto de </a:t>
            </a:r>
            <a:r>
              <a:rPr lang="es-ES" sz="3600" b="1" dirty="0"/>
              <a:t>rotación</a:t>
            </a:r>
            <a:r>
              <a:rPr lang="es-ES" sz="3600" dirty="0"/>
              <a:t> proviene de la </a:t>
            </a:r>
            <a:r>
              <a:rPr lang="es-ES" sz="3600" b="1" dirty="0"/>
              <a:t>geometría euclidiana</a:t>
            </a:r>
            <a:r>
              <a:rPr lang="es-ES" sz="3600" dirty="0"/>
              <a:t>, desarrollada por </a:t>
            </a:r>
            <a:r>
              <a:rPr lang="es-ES" sz="3600" b="1" dirty="0"/>
              <a:t>Euclides</a:t>
            </a:r>
            <a:r>
              <a:rPr lang="es-ES" sz="3600" dirty="0"/>
              <a:t> alrededor del siglo III a.C.</a:t>
            </a:r>
          </a:p>
          <a:p>
            <a:pPr marL="348573" lvl="1">
              <a:lnSpc>
                <a:spcPts val="4520"/>
              </a:lnSpc>
            </a:pPr>
            <a:br>
              <a:rPr lang="es-ES" sz="3600" dirty="0"/>
            </a:br>
            <a:r>
              <a:rPr lang="es-ES" sz="3600" dirty="0"/>
              <a:t>En esta rama de las matemáticas, la rotación se define como una </a:t>
            </a:r>
            <a:r>
              <a:rPr lang="es-ES" sz="3600" b="1" dirty="0"/>
              <a:t>transformación rígida</a:t>
            </a:r>
            <a:r>
              <a:rPr lang="es-ES" sz="3600" dirty="0"/>
              <a:t> que conserva la forma y el tamaño de las figuras, cambiando únicamente su </a:t>
            </a:r>
            <a:r>
              <a:rPr lang="es-ES" sz="3600" b="1" dirty="0"/>
              <a:t>orientación</a:t>
            </a:r>
            <a:r>
              <a:rPr lang="es-ES" sz="3600" dirty="0"/>
              <a:t> en el plano o en el espacio.</a:t>
            </a:r>
            <a:endParaRPr lang="en-US" sz="322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9069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53707" y="3306067"/>
            <a:ext cx="2498868" cy="2498868"/>
            <a:chOff x="0" y="0"/>
            <a:chExt cx="3331824" cy="3331824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782A8C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917" y="466286"/>
              <a:ext cx="2505689" cy="250568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9235425" y="3306067"/>
            <a:ext cx="2498868" cy="2498868"/>
            <a:chOff x="0" y="0"/>
            <a:chExt cx="3331824" cy="3331824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54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F99FF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86640" y="461273"/>
              <a:ext cx="2510702" cy="251070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9235425" y="5936126"/>
            <a:ext cx="2498868" cy="2498868"/>
            <a:chOff x="0" y="0"/>
            <a:chExt cx="3331824" cy="3331824"/>
          </a:xfrm>
        </p:grpSpPr>
        <p:grpSp>
          <p:nvGrpSpPr>
            <p:cNvPr id="19" name="Group 19"/>
            <p:cNvGrpSpPr>
              <a:grpSpLocks noChangeAspect="1"/>
            </p:cNvGrpSpPr>
            <p:nvPr/>
          </p:nvGrpSpPr>
          <p:grpSpPr>
            <a:xfrm rot="-108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782A8C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74877" y="374877"/>
              <a:ext cx="2530206" cy="2530206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553707" y="5936126"/>
            <a:ext cx="2521050" cy="2521050"/>
            <a:chOff x="0" y="0"/>
            <a:chExt cx="3361401" cy="3361401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 rot="-5400000">
              <a:off x="0" y="0"/>
              <a:ext cx="3361401" cy="3361401"/>
              <a:chOff x="0" y="0"/>
              <a:chExt cx="14400530" cy="144005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DD4EDA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08917" y="443611"/>
              <a:ext cx="2508873" cy="250887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2664396" y="2010799"/>
            <a:ext cx="13142058" cy="77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spc="18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CARACTERISTICAS PRINCIPALES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93153" y="3019270"/>
            <a:ext cx="3312854" cy="84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Mantiene la forma y tamaño del objeto.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81993" y="3019270"/>
            <a:ext cx="3870800" cy="84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Tiene un ángulo de rotación (θ).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81993" y="6505317"/>
            <a:ext cx="3870800" cy="84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altera la escala ni la forma del objeto.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94183" y="5987981"/>
            <a:ext cx="3312854" cy="84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Depende de un punto fijo.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93153" y="3834311"/>
            <a:ext cx="3312854" cy="161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rotación es una transformación isométrica, por lo que las distancias entre puntos del objeto no se alteran.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94183" y="6850647"/>
            <a:ext cx="3312854" cy="96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 punto puede ser el origen (0,0) o cualquier otro punto del plano.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81993" y="3834311"/>
            <a:ext cx="3870800" cy="258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el valor que indica cuánto se gira el objeto.</a:t>
            </a:r>
          </a:p>
          <a:p>
            <a:pPr marL="420139" lvl="1" indent="-210069" algn="l">
              <a:lnSpc>
                <a:spcPts val="2588"/>
              </a:lnSpc>
              <a:buFont typeface="Arial"/>
              <a:buChar char="•"/>
            </a:pPr>
            <a:r>
              <a:rPr lang="en-US" sz="1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el giro es en sentido antihorario (contrario al reloj) → el ángulo es positivo.</a:t>
            </a:r>
          </a:p>
          <a:p>
            <a:pPr marL="420139" lvl="1" indent="-210069" algn="l">
              <a:lnSpc>
                <a:spcPts val="2588"/>
              </a:lnSpc>
              <a:buFont typeface="Arial"/>
              <a:buChar char="•"/>
            </a:pPr>
            <a:r>
              <a:rPr lang="en-US" sz="1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el giro es en sentido horario (a favor del reloj) → el ángulo es negativo.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81993" y="7320358"/>
            <a:ext cx="3870800" cy="96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define como una transformación de cuerpo rígido (o una isometría)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9144000" y="10858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4" name="Group 4"/>
          <p:cNvGrpSpPr/>
          <p:nvPr/>
        </p:nvGrpSpPr>
        <p:grpSpPr>
          <a:xfrm>
            <a:off x="10351840" y="2287828"/>
            <a:ext cx="6209890" cy="6122269"/>
            <a:chOff x="0" y="0"/>
            <a:chExt cx="8279853" cy="8163026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rcRect l="4613" r="4613"/>
            <a:stretch>
              <a:fillRect/>
            </a:stretch>
          </p:blipFill>
          <p:spPr>
            <a:xfrm>
              <a:off x="0" y="0"/>
              <a:ext cx="8279853" cy="8163026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1385161" y="1649662"/>
            <a:ext cx="7758839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FORMULA 2D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5161" y="2939752"/>
            <a:ext cx="7555756" cy="160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rotar un punto (x, y) un ángulo θ respecto al origen, las nuevas coordenadas (x', y') son: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161" y="5519444"/>
            <a:ext cx="3667299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x′=</a:t>
            </a:r>
            <a:r>
              <a:rPr lang="en-US" sz="327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x⋅cos</a:t>
            </a:r>
            <a:r>
              <a:rPr lang="en-US" sz="327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(θ)−</a:t>
            </a:r>
            <a:r>
              <a:rPr lang="en-US" sz="327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y⋅sin</a:t>
            </a:r>
            <a:r>
              <a:rPr lang="en-US" sz="327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(θ)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5161" y="6290114"/>
            <a:ext cx="3667299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y′=x⋅sin(θ)+y⋅cos(θ)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7497" y="4829512"/>
            <a:ext cx="3139546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Forma Antihoraria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21784" y="4841557"/>
            <a:ext cx="2503091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Forma Horaria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64580" y="6280589"/>
            <a:ext cx="3879419" cy="599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  <a:spcBef>
                <a:spcPct val="0"/>
              </a:spcBef>
            </a:pPr>
            <a:r>
              <a:rPr lang="en-US" sz="32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y′=−</a:t>
            </a:r>
            <a:r>
              <a:rPr lang="en-US" sz="32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x⋅sin</a:t>
            </a:r>
            <a:r>
              <a:rPr lang="en-US" sz="32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(θ)+</a:t>
            </a:r>
            <a:r>
              <a:rPr lang="en-US" sz="32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y⋅cos</a:t>
            </a:r>
            <a:r>
              <a:rPr lang="en-US" sz="32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(θ)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02659" y="5519351"/>
            <a:ext cx="3741341" cy="59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5"/>
              </a:lnSpc>
              <a:spcBef>
                <a:spcPct val="0"/>
              </a:spcBef>
            </a:pPr>
            <a:r>
              <a:rPr lang="en-US" sz="32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x′=x⋅cos(θ)+y⋅sin(θ)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1028700" y="102870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4" name="Group 4"/>
          <p:cNvGrpSpPr/>
          <p:nvPr/>
        </p:nvGrpSpPr>
        <p:grpSpPr>
          <a:xfrm>
            <a:off x="2236540" y="2230678"/>
            <a:ext cx="6209890" cy="6122269"/>
            <a:chOff x="0" y="0"/>
            <a:chExt cx="8279853" cy="8163026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rcRect l="2040" r="2040"/>
            <a:stretch>
              <a:fillRect/>
            </a:stretch>
          </p:blipFill>
          <p:spPr>
            <a:xfrm>
              <a:off x="0" y="0"/>
              <a:ext cx="8279853" cy="8163026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9673301" y="866775"/>
            <a:ext cx="7758839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FORMULA 3D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73301" y="2031318"/>
            <a:ext cx="7555756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rotación puede hacerse respecto a los ejes X, Y o Z: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46579" y="3977640"/>
            <a:ext cx="3369469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y′=ycos(θ)−zsin(θ)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61660" y="4791503"/>
            <a:ext cx="3354387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z′=ysin(θ)+zcos(θ)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73301" y="3326130"/>
            <a:ext cx="3342746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Alrededor del eje X: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57387" y="3326130"/>
            <a:ext cx="3336528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Alrededor del eje Y: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24446" y="3977640"/>
            <a:ext cx="3386138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x′=xcos(θ)+zsin(θ)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58982" y="4795935"/>
            <a:ext cx="3600318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z′=−xsin(θ)+zcos(θ)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80931" y="6034007"/>
            <a:ext cx="3340497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Alrededor del eje Z: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80931" y="6685517"/>
            <a:ext cx="3401087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x′=xcos(θ)−ysin(θ)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80931" y="7418087"/>
            <a:ext cx="3392752" cy="5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2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y′=xsin(θ)+ycos(θ)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61CF-C7A7-0DF7-0F97-30101407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FCE30A-9D2D-0DF1-6DBD-A72D7D170AB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419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F41542-3D45-54D7-71D0-E0BD28A71B56}"/>
              </a:ext>
            </a:extLst>
          </p:cNvPr>
          <p:cNvSpPr/>
          <p:nvPr/>
        </p:nvSpPr>
        <p:spPr>
          <a:xfrm>
            <a:off x="9144000" y="10858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C288244-5C2C-F126-9158-1C3B820BA24F}"/>
              </a:ext>
            </a:extLst>
          </p:cNvPr>
          <p:cNvSpPr txBox="1"/>
          <p:nvPr/>
        </p:nvSpPr>
        <p:spPr>
          <a:xfrm>
            <a:off x="677740" y="1541069"/>
            <a:ext cx="8749439" cy="1011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5550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Ventajas</a:t>
            </a:r>
            <a:r>
              <a:rPr lang="en-US" sz="555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la </a:t>
            </a:r>
            <a:r>
              <a:rPr lang="en-US" sz="5550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Rotacion</a:t>
            </a:r>
            <a:endParaRPr lang="en-US" sz="555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9B974B6-D032-789F-5F58-3D284ABCA5BF}"/>
              </a:ext>
            </a:extLst>
          </p:cNvPr>
          <p:cNvSpPr txBox="1"/>
          <p:nvPr/>
        </p:nvSpPr>
        <p:spPr>
          <a:xfrm>
            <a:off x="677740" y="2939752"/>
            <a:ext cx="8749439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4800" dirty="0"/>
              <a:t>✅ Permite mayor </a:t>
            </a:r>
            <a:r>
              <a:rPr lang="es-ES" sz="4800" b="1" dirty="0"/>
              <a:t>realismo visual</a:t>
            </a:r>
            <a:r>
              <a:rPr lang="es-ES" sz="4800" dirty="0"/>
              <a:t>.</a:t>
            </a:r>
            <a:br>
              <a:rPr lang="es-ES" sz="4800" dirty="0"/>
            </a:br>
            <a:r>
              <a:rPr lang="es-ES" sz="4800" dirty="0"/>
              <a:t>✅ Mejora la </a:t>
            </a:r>
            <a:r>
              <a:rPr lang="es-ES" sz="4800" b="1" dirty="0"/>
              <a:t>interactividad</a:t>
            </a:r>
            <a:r>
              <a:rPr lang="es-ES" sz="4800" dirty="0"/>
              <a:t> en entornos 3D.</a:t>
            </a:r>
            <a:br>
              <a:rPr lang="es-ES" sz="4800" dirty="0"/>
            </a:br>
            <a:r>
              <a:rPr lang="es-ES" sz="4800" dirty="0"/>
              <a:t>✅ Facilita la </a:t>
            </a:r>
            <a:r>
              <a:rPr lang="es-ES" sz="4800" b="1" dirty="0"/>
              <a:t>visualización técnica</a:t>
            </a:r>
            <a:r>
              <a:rPr lang="es-ES" sz="4800" dirty="0"/>
              <a:t> de objetos.</a:t>
            </a:r>
            <a:br>
              <a:rPr lang="es-ES" sz="4800" dirty="0"/>
            </a:br>
            <a:r>
              <a:rPr lang="es-ES" sz="4800" dirty="0"/>
              <a:t>✅ Es base para </a:t>
            </a:r>
            <a:r>
              <a:rPr lang="es-ES" sz="4800" b="1" dirty="0"/>
              <a:t>efectos de animación</a:t>
            </a:r>
            <a:r>
              <a:rPr lang="es-ES" sz="4800" dirty="0"/>
              <a:t> y </a:t>
            </a:r>
            <a:r>
              <a:rPr lang="es-ES" sz="4800" b="1" dirty="0"/>
              <a:t>transiciones suaves</a:t>
            </a:r>
            <a:r>
              <a:rPr lang="es-ES" sz="4800" dirty="0"/>
              <a:t>.</a:t>
            </a:r>
          </a:p>
        </p:txBody>
      </p:sp>
      <p:pic>
        <p:nvPicPr>
          <p:cNvPr id="2050" name="Picture 2" descr="▷ Ejemplos de Movimiento de Rotación">
            <a:extLst>
              <a:ext uri="{FF2B5EF4-FFF2-40B4-BE49-F238E27FC236}">
                <a16:creationId xmlns:a16="http://schemas.microsoft.com/office/drawing/2014/main" id="{991D504B-C410-129D-455A-607D00EFD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2605461"/>
            <a:ext cx="6887681" cy="507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13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F146-1153-2C0F-B261-35EFE14F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F4580E-D357-3A7C-30FA-DEEE6151017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419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4172D6B-6215-8DAC-CB9E-C5CA072B5812}"/>
              </a:ext>
            </a:extLst>
          </p:cNvPr>
          <p:cNvSpPr/>
          <p:nvPr/>
        </p:nvSpPr>
        <p:spPr>
          <a:xfrm>
            <a:off x="989616" y="2032474"/>
            <a:ext cx="5600700" cy="5732445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DD882B9-3F11-9132-8A13-3CAD31857C20}"/>
              </a:ext>
            </a:extLst>
          </p:cNvPr>
          <p:cNvSpPr txBox="1"/>
          <p:nvPr/>
        </p:nvSpPr>
        <p:spPr>
          <a:xfrm>
            <a:off x="7579932" y="1526566"/>
            <a:ext cx="9507340" cy="1011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5550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Rotacion</a:t>
            </a:r>
            <a:r>
              <a:rPr lang="en-US" sz="555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5550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</a:t>
            </a:r>
            <a:r>
              <a:rPr lang="en-US" sz="555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la </a:t>
            </a:r>
            <a:r>
              <a:rPr lang="en-US" sz="5550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vida</a:t>
            </a:r>
            <a:r>
              <a:rPr lang="en-US" sz="555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Real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F1A651C-044F-CAE5-F0A0-6E47132483DA}"/>
              </a:ext>
            </a:extLst>
          </p:cNvPr>
          <p:cNvSpPr txBox="1"/>
          <p:nvPr/>
        </p:nvSpPr>
        <p:spPr>
          <a:xfrm>
            <a:off x="7579932" y="2942984"/>
            <a:ext cx="9649125" cy="5514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s-E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Movimiento de la Tierra sobre su eje.</a:t>
            </a:r>
          </a:p>
          <a:p>
            <a:pPr marL="457200" indent="-457200" algn="l">
              <a:lnSpc>
                <a:spcPts val="4349"/>
              </a:lnSpc>
              <a:buFont typeface="Arial" panose="020B0604020202020204" pitchFamily="34" charset="0"/>
              <a:buChar char="•"/>
            </a:pPr>
            <a:endParaRPr lang="es-E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indent="-457200" algn="l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s-E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Rotación de ruedas, ventiladores, engranajes.</a:t>
            </a:r>
          </a:p>
          <a:p>
            <a:pPr marL="457200" indent="-457200" algn="l">
              <a:lnSpc>
                <a:spcPts val="4349"/>
              </a:lnSpc>
              <a:buFont typeface="Arial" panose="020B0604020202020204" pitchFamily="34" charset="0"/>
              <a:buChar char="•"/>
            </a:pPr>
            <a:endParaRPr lang="es-E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indent="-457200" algn="l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s-E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Giros de brazos robóticos en líneas de producción.</a:t>
            </a:r>
          </a:p>
          <a:p>
            <a:pPr marL="457200" indent="-457200" algn="l">
              <a:lnSpc>
                <a:spcPts val="4349"/>
              </a:lnSpc>
              <a:buFont typeface="Arial" panose="020B0604020202020204" pitchFamily="34" charset="0"/>
              <a:buChar char="•"/>
            </a:pPr>
            <a:endParaRPr lang="es-E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indent="-457200" algn="l">
              <a:lnSpc>
                <a:spcPts val="4349"/>
              </a:lnSpc>
              <a:buFont typeface="Arial" panose="020B0604020202020204" pitchFamily="34" charset="0"/>
              <a:buChar char="•"/>
            </a:pPr>
            <a:r>
              <a:rPr lang="es-E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Rotación de logos o textos animados en sitios web.</a:t>
            </a:r>
            <a:endParaRPr lang="en-U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79" name="Picture 7" descr="Los movimientos de la tierra (I ). La rotación - Issuu">
            <a:extLst>
              <a:ext uri="{FF2B5EF4-FFF2-40B4-BE49-F238E27FC236}">
                <a16:creationId xmlns:a16="http://schemas.microsoft.com/office/drawing/2014/main" id="{E22E423D-B3F8-86C8-1CDE-81897E5EF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436" y="2700337"/>
            <a:ext cx="4429125" cy="488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013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5146499" y="5228815"/>
            <a:ext cx="3925804" cy="3831308"/>
            <a:chOff x="0" y="0"/>
            <a:chExt cx="453389" cy="44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3389" cy="442476"/>
            </a:xfrm>
            <a:custGeom>
              <a:avLst/>
              <a:gdLst/>
              <a:ahLst/>
              <a:cxnLst/>
              <a:rect l="l" t="t" r="r" b="b"/>
              <a:pathLst>
                <a:path w="453389" h="442476">
                  <a:moveTo>
                    <a:pt x="72966" y="0"/>
                  </a:moveTo>
                  <a:lnTo>
                    <a:pt x="380423" y="0"/>
                  </a:lnTo>
                  <a:cubicBezTo>
                    <a:pt x="399775" y="0"/>
                    <a:pt x="418334" y="7687"/>
                    <a:pt x="432018" y="21371"/>
                  </a:cubicBezTo>
                  <a:cubicBezTo>
                    <a:pt x="445702" y="35055"/>
                    <a:pt x="453389" y="53614"/>
                    <a:pt x="453389" y="72966"/>
                  </a:cubicBezTo>
                  <a:lnTo>
                    <a:pt x="453389" y="369510"/>
                  </a:lnTo>
                  <a:cubicBezTo>
                    <a:pt x="453389" y="409808"/>
                    <a:pt x="420721" y="442476"/>
                    <a:pt x="380423" y="442476"/>
                  </a:cubicBezTo>
                  <a:lnTo>
                    <a:pt x="72966" y="442476"/>
                  </a:lnTo>
                  <a:cubicBezTo>
                    <a:pt x="53614" y="442476"/>
                    <a:pt x="35055" y="434788"/>
                    <a:pt x="21371" y="421105"/>
                  </a:cubicBezTo>
                  <a:cubicBezTo>
                    <a:pt x="7687" y="407421"/>
                    <a:pt x="0" y="388861"/>
                    <a:pt x="0" y="369510"/>
                  </a:cubicBezTo>
                  <a:lnTo>
                    <a:pt x="0" y="72966"/>
                  </a:lnTo>
                  <a:cubicBezTo>
                    <a:pt x="0" y="53614"/>
                    <a:pt x="7687" y="35055"/>
                    <a:pt x="21371" y="21371"/>
                  </a:cubicBezTo>
                  <a:cubicBezTo>
                    <a:pt x="35055" y="7687"/>
                    <a:pt x="53614" y="0"/>
                    <a:pt x="72966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5228815"/>
            <a:ext cx="3925804" cy="3831308"/>
            <a:chOff x="0" y="0"/>
            <a:chExt cx="453389" cy="4424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3389" cy="442476"/>
            </a:xfrm>
            <a:custGeom>
              <a:avLst/>
              <a:gdLst/>
              <a:ahLst/>
              <a:cxnLst/>
              <a:rect l="l" t="t" r="r" b="b"/>
              <a:pathLst>
                <a:path w="453389" h="442476">
                  <a:moveTo>
                    <a:pt x="72966" y="0"/>
                  </a:moveTo>
                  <a:lnTo>
                    <a:pt x="380423" y="0"/>
                  </a:lnTo>
                  <a:cubicBezTo>
                    <a:pt x="399775" y="0"/>
                    <a:pt x="418334" y="7687"/>
                    <a:pt x="432018" y="21371"/>
                  </a:cubicBezTo>
                  <a:cubicBezTo>
                    <a:pt x="445702" y="35055"/>
                    <a:pt x="453389" y="53614"/>
                    <a:pt x="453389" y="72966"/>
                  </a:cubicBezTo>
                  <a:lnTo>
                    <a:pt x="453389" y="369510"/>
                  </a:lnTo>
                  <a:cubicBezTo>
                    <a:pt x="453389" y="409808"/>
                    <a:pt x="420721" y="442476"/>
                    <a:pt x="380423" y="442476"/>
                  </a:cubicBezTo>
                  <a:lnTo>
                    <a:pt x="72966" y="442476"/>
                  </a:lnTo>
                  <a:cubicBezTo>
                    <a:pt x="53614" y="442476"/>
                    <a:pt x="35055" y="434788"/>
                    <a:pt x="21371" y="421105"/>
                  </a:cubicBezTo>
                  <a:cubicBezTo>
                    <a:pt x="7687" y="407421"/>
                    <a:pt x="0" y="388861"/>
                    <a:pt x="0" y="369510"/>
                  </a:cubicBezTo>
                  <a:lnTo>
                    <a:pt x="0" y="72966"/>
                  </a:lnTo>
                  <a:cubicBezTo>
                    <a:pt x="0" y="53614"/>
                    <a:pt x="7687" y="35055"/>
                    <a:pt x="21371" y="21371"/>
                  </a:cubicBezTo>
                  <a:cubicBezTo>
                    <a:pt x="35055" y="7687"/>
                    <a:pt x="53614" y="0"/>
                    <a:pt x="72966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FF99FF"/>
              </a:solidFill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2075081" y="3516412"/>
            <a:ext cx="1833041" cy="1833041"/>
            <a:chOff x="0" y="0"/>
            <a:chExt cx="2444055" cy="2444055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2444055" cy="2444055"/>
              <a:chOff x="0" y="0"/>
              <a:chExt cx="14400530" cy="144005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F99FF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299961" y="342043"/>
              <a:ext cx="1838045" cy="1838045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-2700000">
            <a:off x="6192880" y="3516412"/>
            <a:ext cx="1833041" cy="1833041"/>
            <a:chOff x="0" y="0"/>
            <a:chExt cx="2444055" cy="2444055"/>
          </a:xfrm>
        </p:grpSpPr>
        <p:grpSp>
          <p:nvGrpSpPr>
            <p:cNvPr id="16" name="Group 16"/>
            <p:cNvGrpSpPr>
              <a:grpSpLocks noChangeAspect="1"/>
            </p:cNvGrpSpPr>
            <p:nvPr/>
          </p:nvGrpSpPr>
          <p:grpSpPr>
            <a:xfrm rot="5400000">
              <a:off x="0" y="0"/>
              <a:ext cx="2444055" cy="2444055"/>
              <a:chOff x="0" y="0"/>
              <a:chExt cx="14400530" cy="144005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70F69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83619" y="338366"/>
              <a:ext cx="1841722" cy="184172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9200744" y="5228815"/>
            <a:ext cx="3925804" cy="3831308"/>
            <a:chOff x="0" y="0"/>
            <a:chExt cx="453389" cy="4424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3389" cy="442476"/>
            </a:xfrm>
            <a:custGeom>
              <a:avLst/>
              <a:gdLst/>
              <a:ahLst/>
              <a:cxnLst/>
              <a:rect l="l" t="t" r="r" b="b"/>
              <a:pathLst>
                <a:path w="453389" h="442476">
                  <a:moveTo>
                    <a:pt x="72966" y="0"/>
                  </a:moveTo>
                  <a:lnTo>
                    <a:pt x="380423" y="0"/>
                  </a:lnTo>
                  <a:cubicBezTo>
                    <a:pt x="399775" y="0"/>
                    <a:pt x="418334" y="7687"/>
                    <a:pt x="432018" y="21371"/>
                  </a:cubicBezTo>
                  <a:cubicBezTo>
                    <a:pt x="445702" y="35055"/>
                    <a:pt x="453389" y="53614"/>
                    <a:pt x="453389" y="72966"/>
                  </a:cubicBezTo>
                  <a:lnTo>
                    <a:pt x="453389" y="369510"/>
                  </a:lnTo>
                  <a:cubicBezTo>
                    <a:pt x="453389" y="409808"/>
                    <a:pt x="420721" y="442476"/>
                    <a:pt x="380423" y="442476"/>
                  </a:cubicBezTo>
                  <a:lnTo>
                    <a:pt x="72966" y="442476"/>
                  </a:lnTo>
                  <a:cubicBezTo>
                    <a:pt x="53614" y="442476"/>
                    <a:pt x="35055" y="434788"/>
                    <a:pt x="21371" y="421105"/>
                  </a:cubicBezTo>
                  <a:cubicBezTo>
                    <a:pt x="7687" y="407421"/>
                    <a:pt x="0" y="388861"/>
                    <a:pt x="0" y="369510"/>
                  </a:cubicBezTo>
                  <a:lnTo>
                    <a:pt x="0" y="72966"/>
                  </a:lnTo>
                  <a:cubicBezTo>
                    <a:pt x="0" y="53614"/>
                    <a:pt x="7687" y="35055"/>
                    <a:pt x="21371" y="21371"/>
                  </a:cubicBezTo>
                  <a:cubicBezTo>
                    <a:pt x="35055" y="7687"/>
                    <a:pt x="53614" y="0"/>
                    <a:pt x="72966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FF99FF"/>
              </a:solidFill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2700000">
            <a:off x="10247125" y="3516412"/>
            <a:ext cx="1833041" cy="1833041"/>
            <a:chOff x="0" y="0"/>
            <a:chExt cx="2444055" cy="2444055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2444055" cy="2444055"/>
              <a:chOff x="0" y="0"/>
              <a:chExt cx="14400530" cy="144005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F99FF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99961" y="342043"/>
              <a:ext cx="1838045" cy="1838045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13333496" y="5228815"/>
            <a:ext cx="3925804" cy="3831308"/>
            <a:chOff x="0" y="0"/>
            <a:chExt cx="453389" cy="44247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53389" cy="442476"/>
            </a:xfrm>
            <a:custGeom>
              <a:avLst/>
              <a:gdLst/>
              <a:ahLst/>
              <a:cxnLst/>
              <a:rect l="l" t="t" r="r" b="b"/>
              <a:pathLst>
                <a:path w="453389" h="442476">
                  <a:moveTo>
                    <a:pt x="72966" y="0"/>
                  </a:moveTo>
                  <a:lnTo>
                    <a:pt x="380423" y="0"/>
                  </a:lnTo>
                  <a:cubicBezTo>
                    <a:pt x="399775" y="0"/>
                    <a:pt x="418334" y="7687"/>
                    <a:pt x="432018" y="21371"/>
                  </a:cubicBezTo>
                  <a:cubicBezTo>
                    <a:pt x="445702" y="35055"/>
                    <a:pt x="453389" y="53614"/>
                    <a:pt x="453389" y="72966"/>
                  </a:cubicBezTo>
                  <a:lnTo>
                    <a:pt x="453389" y="369510"/>
                  </a:lnTo>
                  <a:cubicBezTo>
                    <a:pt x="453389" y="409808"/>
                    <a:pt x="420721" y="442476"/>
                    <a:pt x="380423" y="442476"/>
                  </a:cubicBezTo>
                  <a:lnTo>
                    <a:pt x="72966" y="442476"/>
                  </a:lnTo>
                  <a:cubicBezTo>
                    <a:pt x="53614" y="442476"/>
                    <a:pt x="35055" y="434788"/>
                    <a:pt x="21371" y="421105"/>
                  </a:cubicBezTo>
                  <a:cubicBezTo>
                    <a:pt x="7687" y="407421"/>
                    <a:pt x="0" y="388861"/>
                    <a:pt x="0" y="369510"/>
                  </a:cubicBezTo>
                  <a:lnTo>
                    <a:pt x="0" y="72966"/>
                  </a:lnTo>
                  <a:cubicBezTo>
                    <a:pt x="0" y="53614"/>
                    <a:pt x="7687" y="35055"/>
                    <a:pt x="21371" y="21371"/>
                  </a:cubicBezTo>
                  <a:cubicBezTo>
                    <a:pt x="35055" y="7687"/>
                    <a:pt x="53614" y="0"/>
                    <a:pt x="72966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-2700000">
            <a:off x="14379878" y="3516412"/>
            <a:ext cx="1833041" cy="1833041"/>
            <a:chOff x="0" y="0"/>
            <a:chExt cx="2444055" cy="2444055"/>
          </a:xfrm>
        </p:grpSpPr>
        <p:grpSp>
          <p:nvGrpSpPr>
            <p:cNvPr id="34" name="Group 34"/>
            <p:cNvGrpSpPr>
              <a:grpSpLocks noChangeAspect="1"/>
            </p:cNvGrpSpPr>
            <p:nvPr/>
          </p:nvGrpSpPr>
          <p:grpSpPr>
            <a:xfrm rot="5400000">
              <a:off x="0" y="0"/>
              <a:ext cx="2444055" cy="2444055"/>
              <a:chOff x="0" y="0"/>
              <a:chExt cx="14400530" cy="1440053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70F69"/>
              </a:solidFill>
            </p:spPr>
            <p:txBody>
              <a:bodyPr/>
              <a:lstStyle/>
              <a:p>
                <a:endParaRPr lang="es-419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83619" y="338366"/>
              <a:ext cx="1841722" cy="184172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1028700" y="1863039"/>
            <a:ext cx="16230600" cy="84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3"/>
              </a:lnSpc>
            </a:pPr>
            <a:r>
              <a:rPr lang="en-US" sz="6177" spc="1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TIPO DE ROTACION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07455" y="5915544"/>
            <a:ext cx="2592196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Rotación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 </a:t>
            </a: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en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 2D: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78788" y="6466703"/>
            <a:ext cx="3225628" cy="204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0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realiza sobre un plano, con un punto fijo como centro.</a:t>
            </a:r>
          </a:p>
          <a:p>
            <a:pPr algn="l">
              <a:lnSpc>
                <a:spcPts val="2754"/>
              </a:lnSpc>
            </a:pPr>
            <a:endParaRPr lang="en-US" sz="207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54"/>
              </a:lnSpc>
            </a:pPr>
            <a:r>
              <a:rPr lang="en-US" sz="20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Ejemplo: girar un cuadrado sobre su centro.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40954" y="5896728"/>
            <a:ext cx="3645383" cy="439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Rotación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 </a:t>
            </a: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homogénea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36397" y="6638153"/>
            <a:ext cx="3054498" cy="169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matrices de </a:t>
            </a: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transformación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muy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comunes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programación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gráfica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07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animaciones</a:t>
            </a:r>
            <a:r>
              <a:rPr lang="en-US" sz="207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52669" y="5911831"/>
            <a:ext cx="2592197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Rotación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 </a:t>
            </a: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en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 3D: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73757" y="6638153"/>
            <a:ext cx="3150022" cy="169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0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realiza respecto a un eje (X, Y o Z).</a:t>
            </a:r>
          </a:p>
          <a:p>
            <a:pPr algn="l">
              <a:lnSpc>
                <a:spcPts val="2754"/>
              </a:lnSpc>
            </a:pPr>
            <a:endParaRPr lang="en-US" sz="207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54"/>
              </a:lnSpc>
            </a:pPr>
            <a:r>
              <a:rPr lang="en-US" sz="20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Ejemplo: girar un cubo sobre el eje Y.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528766" y="5862587"/>
            <a:ext cx="3487432" cy="432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Rotación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 </a:t>
            </a:r>
            <a:r>
              <a:rPr lang="en-US" sz="2600" b="1" spc="-59" dirty="0" err="1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compuesta</a:t>
            </a:r>
            <a:r>
              <a:rPr lang="en-US" sz="2600" b="1" spc="-59" dirty="0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755199" y="6638153"/>
            <a:ext cx="3082398" cy="169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0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Cuando se aplican varias rotaciones consecutivas (por ejemplo, primero alrededor del eje X y luego del 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794973" y="5188925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/>
          <p:cNvSpPr txBox="1"/>
          <p:nvPr/>
        </p:nvSpPr>
        <p:spPr>
          <a:xfrm>
            <a:off x="1592396" y="2011911"/>
            <a:ext cx="15103207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FUNCIÓN DE LA ROTACIÓN EN GRAFICACIÓN</a:t>
            </a:r>
          </a:p>
        </p:txBody>
      </p:sp>
      <p:sp>
        <p:nvSpPr>
          <p:cNvPr id="14" name="Freeform 14"/>
          <p:cNvSpPr/>
          <p:nvPr/>
        </p:nvSpPr>
        <p:spPr>
          <a:xfrm rot="-10800000">
            <a:off x="13871465" y="-189523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TextBox 15"/>
          <p:cNvSpPr txBox="1"/>
          <p:nvPr/>
        </p:nvSpPr>
        <p:spPr>
          <a:xfrm>
            <a:off x="2650570" y="4045313"/>
            <a:ext cx="12986860" cy="457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146" lvl="1" indent="-348573" algn="l">
              <a:lnSpc>
                <a:spcPts val="4520"/>
              </a:lnSpc>
              <a:buFont typeface="Arial"/>
              <a:buChar char="•"/>
            </a:pPr>
            <a:r>
              <a:rPr lang="en-US" sz="32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Cambiar la orientación de figuras o modelos.</a:t>
            </a:r>
          </a:p>
          <a:p>
            <a:pPr marL="697146" lvl="1" indent="-348573" algn="l">
              <a:lnSpc>
                <a:spcPts val="4520"/>
              </a:lnSpc>
              <a:buFont typeface="Arial"/>
              <a:buChar char="•"/>
            </a:pPr>
            <a:r>
              <a:rPr lang="en-US" sz="32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Simular movimiento o animación.</a:t>
            </a:r>
          </a:p>
          <a:p>
            <a:pPr marL="697146" lvl="1" indent="-348573" algn="l">
              <a:lnSpc>
                <a:spcPts val="4520"/>
              </a:lnSpc>
              <a:buFont typeface="Arial"/>
              <a:buChar char="•"/>
            </a:pPr>
            <a:r>
              <a:rPr lang="en-US" sz="32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Permitir vistas desde diferentes ángulos (en 3D).</a:t>
            </a:r>
          </a:p>
          <a:p>
            <a:pPr marL="697146" lvl="1" indent="-348573" algn="l">
              <a:lnSpc>
                <a:spcPts val="4520"/>
              </a:lnSpc>
              <a:buFont typeface="Arial"/>
              <a:buChar char="•"/>
            </a:pPr>
            <a:r>
              <a:rPr lang="en-US" sz="32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Realizar efectos visuales (rotación de logos, iconos, textos, objetos en videojuegos, etc.).</a:t>
            </a:r>
          </a:p>
          <a:p>
            <a:pPr marL="697146" lvl="1" indent="-348573" algn="l">
              <a:lnSpc>
                <a:spcPts val="4520"/>
              </a:lnSpc>
              <a:buFont typeface="Arial"/>
              <a:buChar char="•"/>
            </a:pPr>
            <a:r>
              <a:rPr lang="en-US" sz="32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Utilizarse en transformaciones compuestas junto con traslación y escalamiento.</a:t>
            </a:r>
          </a:p>
          <a:p>
            <a:pPr algn="l">
              <a:lnSpc>
                <a:spcPts val="4520"/>
              </a:lnSpc>
            </a:pPr>
            <a:endParaRPr lang="en-US" sz="32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9144000" y="10858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TextBox 6"/>
          <p:cNvSpPr txBox="1"/>
          <p:nvPr/>
        </p:nvSpPr>
        <p:spPr>
          <a:xfrm>
            <a:off x="1385161" y="1668712"/>
            <a:ext cx="7758839" cy="83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4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EJEMPLO VISUAL (EN 2D)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5161" y="2939752"/>
            <a:ext cx="7555756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Tenemos</a:t>
            </a:r>
            <a:r>
              <a:rPr lang="en-US" sz="2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 punto A(2, 0) y se </a:t>
            </a:r>
            <a:r>
              <a:rPr lang="en-US" sz="28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desea</a:t>
            </a:r>
            <a:r>
              <a:rPr lang="en-US" sz="2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rotarlo</a:t>
            </a:r>
            <a:r>
              <a:rPr lang="en-US" sz="2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90° </a:t>
            </a:r>
            <a:r>
              <a:rPr lang="en-US" sz="28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antihorario</a:t>
            </a:r>
            <a:r>
              <a:rPr lang="en-US" sz="2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respecto</a:t>
            </a:r>
            <a:r>
              <a:rPr lang="en-US" sz="2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al </a:t>
            </a:r>
            <a:r>
              <a:rPr lang="en-US" sz="28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origen</a:t>
            </a:r>
            <a:r>
              <a:rPr lang="en-US" sz="2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2BAFEFD-874A-10B5-79A6-6795E99EC2E7}"/>
              </a:ext>
            </a:extLst>
          </p:cNvPr>
          <p:cNvSpPr txBox="1"/>
          <p:nvPr/>
        </p:nvSpPr>
        <p:spPr>
          <a:xfrm>
            <a:off x="2567362" y="5299080"/>
            <a:ext cx="478703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419" sz="3600" dirty="0"/>
              <a:t>x′=2cos(90°)−0sin(90°)=0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B74E1-8DFF-1546-7E4A-719CB4F10DE6}"/>
              </a:ext>
            </a:extLst>
          </p:cNvPr>
          <p:cNvSpPr txBox="1"/>
          <p:nvPr/>
        </p:nvSpPr>
        <p:spPr>
          <a:xfrm>
            <a:off x="2567361" y="6458675"/>
            <a:ext cx="478703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3600" dirty="0"/>
              <a:t>y′=2sin(90°)+0cos(90°)=2</a:t>
            </a:r>
            <a:endParaRPr lang="es-419" sz="3600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2055EBCB-F752-B865-E320-363E28C46EB3}"/>
              </a:ext>
            </a:extLst>
          </p:cNvPr>
          <p:cNvSpPr txBox="1"/>
          <p:nvPr/>
        </p:nvSpPr>
        <p:spPr>
          <a:xfrm>
            <a:off x="1385161" y="8158112"/>
            <a:ext cx="7555756" cy="52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49"/>
              </a:lnSpc>
            </a:pPr>
            <a:r>
              <a:rPr lang="en-US" sz="2899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</a:t>
            </a:r>
            <a:r>
              <a:rPr lang="en-US" sz="2899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419" sz="3200" dirty="0"/>
              <a:t>A’(0, 2)</a:t>
            </a:r>
            <a:endParaRPr lang="en-US" sz="28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26" name="Picture 2" descr="En sentido antihorario - Iconos gratis de hora y fecha">
            <a:extLst>
              <a:ext uri="{FF2B5EF4-FFF2-40B4-BE49-F238E27FC236}">
                <a16:creationId xmlns:a16="http://schemas.microsoft.com/office/drawing/2014/main" id="{FCC1CEEF-3ABA-FE18-DF0C-90927AFB7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0" y="27051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D3C7-E2EE-AE11-F95B-DCCE2CB6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03A346-6C99-69E3-C917-41A89F5CBA5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7B43399-E318-E735-A227-35B25A0E81CE}"/>
              </a:ext>
            </a:extLst>
          </p:cNvPr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7F4DF4-4109-6AB5-DA49-A025BDC2C590}"/>
                </a:ext>
              </a:extLst>
            </p:cNvPr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EB30262-24BF-BF0E-72E1-309E0BFEFC19}"/>
                </a:ext>
              </a:extLst>
            </p:cNvPr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51BE392-9ECE-E78E-7B6E-671F3BB4385E}"/>
              </a:ext>
            </a:extLst>
          </p:cNvPr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311079C-F030-5E1F-9788-8C4CBBB57396}"/>
                </a:ext>
              </a:extLst>
            </p:cNvPr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ED8D6C8-8282-449B-EA7B-7EDA18F071A2}"/>
                </a:ext>
              </a:extLst>
            </p:cNvPr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230BCE7-AC7F-B4B9-D006-BEA276B509E8}"/>
              </a:ext>
            </a:extLst>
          </p:cNvPr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0B98D5D-02AA-51D9-877B-3A610BD17E56}"/>
                </a:ext>
              </a:extLst>
            </p:cNvPr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C91B18A-96E2-9AA4-A38E-41714A9FA2CC}"/>
                </a:ext>
              </a:extLst>
            </p:cNvPr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F8CED352-8B6E-2AEC-C818-50E1BB915504}"/>
              </a:ext>
            </a:extLst>
          </p:cNvPr>
          <p:cNvSpPr/>
          <p:nvPr/>
        </p:nvSpPr>
        <p:spPr>
          <a:xfrm>
            <a:off x="-794973" y="5188925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EEA74B-8465-E4DE-6534-945772DC66E2}"/>
              </a:ext>
            </a:extLst>
          </p:cNvPr>
          <p:cNvSpPr txBox="1"/>
          <p:nvPr/>
        </p:nvSpPr>
        <p:spPr>
          <a:xfrm>
            <a:off x="1592396" y="2011911"/>
            <a:ext cx="15103207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0223651-483F-6C35-E576-C02DF18F5572}"/>
              </a:ext>
            </a:extLst>
          </p:cNvPr>
          <p:cNvSpPr/>
          <p:nvPr/>
        </p:nvSpPr>
        <p:spPr>
          <a:xfrm rot="-10800000">
            <a:off x="13871465" y="-189523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8C00BD4-DC44-4C08-145B-92D4B573FC30}"/>
              </a:ext>
            </a:extLst>
          </p:cNvPr>
          <p:cNvSpPr txBox="1"/>
          <p:nvPr/>
        </p:nvSpPr>
        <p:spPr>
          <a:xfrm>
            <a:off x="2650568" y="3113693"/>
            <a:ext cx="12986860" cy="517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4800" dirty="0"/>
              <a:t>La rotación es una de las </a:t>
            </a:r>
            <a:r>
              <a:rPr lang="es-ES" sz="4800" b="1" dirty="0"/>
              <a:t>transformaciones básicas en </a:t>
            </a:r>
            <a:r>
              <a:rPr lang="es-ES" sz="4800" b="1" dirty="0" err="1"/>
              <a:t>graficación</a:t>
            </a:r>
            <a:r>
              <a:rPr lang="es-ES" sz="4800" dirty="0"/>
              <a:t>, junto con la </a:t>
            </a:r>
            <a:r>
              <a:rPr lang="es-ES" sz="4800" b="1" dirty="0"/>
              <a:t>traslación</a:t>
            </a:r>
            <a:r>
              <a:rPr lang="es-ES" sz="4800" dirty="0"/>
              <a:t> y el </a:t>
            </a:r>
            <a:r>
              <a:rPr lang="es-ES" sz="4800" b="1" dirty="0"/>
              <a:t>escalamiento</a:t>
            </a:r>
            <a:r>
              <a:rPr lang="es-ES" sz="4800" dirty="0"/>
              <a:t>.</a:t>
            </a:r>
            <a:br>
              <a:rPr lang="es-ES" sz="4800" dirty="0"/>
            </a:br>
            <a:r>
              <a:rPr lang="es-ES" sz="4800" dirty="0"/>
              <a:t>Permite </a:t>
            </a:r>
            <a:r>
              <a:rPr lang="es-ES" sz="4800" b="1" dirty="0"/>
              <a:t>modificar la orientación</a:t>
            </a:r>
            <a:r>
              <a:rPr lang="es-ES" sz="4800" dirty="0"/>
              <a:t> de figuras sin alterar su forma, lo que la hace esencial en </a:t>
            </a:r>
            <a:r>
              <a:rPr lang="es-ES" sz="4800" b="1" dirty="0"/>
              <a:t>animaciones, modelado 3D, interfaces gráficas y simulaciones visuales</a:t>
            </a:r>
            <a:r>
              <a:rPr lang="es-ES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475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803</Words>
  <Application>Microsoft Office PowerPoint</Application>
  <PresentationFormat>Personalizado</PresentationFormat>
  <Paragraphs>80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League Spartan</vt:lpstr>
      <vt:lpstr>Calibri</vt:lpstr>
      <vt:lpstr>Open Sans</vt:lpstr>
      <vt:lpstr>Arial</vt:lpstr>
      <vt:lpstr>Open Sans Ultra-Bold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Propuesta Proyecto Marketing Profesional Corporativo Morado y Gris</dc:title>
  <cp:lastModifiedBy>Cris Hdz Cruz</cp:lastModifiedBy>
  <cp:revision>4</cp:revision>
  <dcterms:created xsi:type="dcterms:W3CDTF">2006-08-16T00:00:00Z</dcterms:created>
  <dcterms:modified xsi:type="dcterms:W3CDTF">2025-11-06T17:48:14Z</dcterms:modified>
  <dc:identifier>DAG34-HI-VE</dc:identifier>
</cp:coreProperties>
</file>